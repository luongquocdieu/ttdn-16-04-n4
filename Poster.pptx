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3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showGuides="1">
      <p:cViewPr>
        <p:scale>
          <a:sx n="150" d="100"/>
          <a:sy n="150" d="100"/>
        </p:scale>
        <p:origin x="523" y="-2174"/>
      </p:cViewPr>
      <p:guideLst>
        <p:guide orient="horz" pos="31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dirty="0"/>
              <a:t>Click to edit Master title style</a:t>
            </a:r>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
        <p:nvSpPr>
          <p:cNvPr id="4" name="Date Placeholder 3"/>
          <p:cNvSpPr>
            <a:spLocks noGrp="1"/>
          </p:cNvSpPr>
          <p:nvPr>
            <p:ph type="dt" sz="half" idx="10"/>
          </p:nvPr>
        </p:nvSpPr>
        <p:spPr/>
        <p:txBody>
          <a:bodyPr/>
          <a:lstStyle/>
          <a:p>
            <a:fld id="{E95511AC-980B-485A-851E-DBD0B8F4CBAD}"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880132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95511AC-980B-485A-851E-DBD0B8F4CBAD}"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534250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dirty="0"/>
              <a:t>Click to edit Master title style</a:t>
            </a:r>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E95511AC-980B-485A-851E-DBD0B8F4CBAD}"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9580245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471488" y="2637014"/>
            <a:ext cx="2914650" cy="628526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3471863" y="2637014"/>
            <a:ext cx="2914650" cy="628526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E95511AC-980B-485A-851E-DBD0B8F4CBAD}" type="datetimeFigureOut">
              <a:rPr lang="en-US" smtClean="0"/>
              <a:t>1/29/2026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831506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dirty="0"/>
              <a:t>Click to edit Master title style</a:t>
            </a:r>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95511AC-980B-485A-851E-DBD0B8F4CBAD}" type="datetimeFigureOut">
              <a:rPr lang="en-US" smtClean="0"/>
              <a:t>1/29/2026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442525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E95511AC-980B-485A-851E-DBD0B8F4CBAD}" type="datetimeFigureOut">
              <a:rPr lang="en-US" smtClean="0"/>
              <a:t>1/29/2026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755432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5511AC-980B-485A-851E-DBD0B8F4CBAD}" type="datetimeFigureOut">
              <a:rPr lang="en-US" smtClean="0"/>
              <a:t>1/29/2026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943794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dirty="0"/>
              <a:t>Click to edit Master title style</a:t>
            </a:r>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5" name="Date Placeholder 4"/>
          <p:cNvSpPr>
            <a:spLocks noGrp="1"/>
          </p:cNvSpPr>
          <p:nvPr>
            <p:ph type="dt" sz="half" idx="10"/>
          </p:nvPr>
        </p:nvSpPr>
        <p:spPr/>
        <p:txBody>
          <a:bodyPr/>
          <a:lstStyle/>
          <a:p>
            <a:fld id="{E95511AC-980B-485A-851E-DBD0B8F4CBAD}" type="datetimeFigureOut">
              <a:rPr lang="en-US" smtClean="0"/>
              <a:t>1/29/2026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764958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dirty="0"/>
              <a:t>Click to edit Master title style</a:t>
            </a:r>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5" name="Date Placeholder 4"/>
          <p:cNvSpPr>
            <a:spLocks noGrp="1"/>
          </p:cNvSpPr>
          <p:nvPr>
            <p:ph type="dt" sz="half" idx="10"/>
          </p:nvPr>
        </p:nvSpPr>
        <p:spPr/>
        <p:txBody>
          <a:bodyPr/>
          <a:lstStyle/>
          <a:p>
            <a:fld id="{E95511AC-980B-485A-851E-DBD0B8F4CBAD}" type="datetimeFigureOut">
              <a:rPr lang="en-US" smtClean="0"/>
              <a:t>1/29/2026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4036842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95511AC-980B-485A-851E-DBD0B8F4CBAD}"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3612430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95511AC-980B-485A-851E-DBD0B8F4CBAD}"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3302977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E95511AC-980B-485A-851E-DBD0B8F4CBAD}" type="datetimeFigureOut">
              <a:rPr lang="en-US" smtClean="0"/>
              <a:t>1/29/2026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06A2BFA2-7CEB-4D76-9663-917F13DE4B1E}" type="slidenum">
              <a:rPr lang="en-US" smtClean="0"/>
              <a:t>‹#›</a:t>
            </a:fld>
            <a:endParaRPr lang="en-US"/>
          </a:p>
        </p:txBody>
      </p:sp>
    </p:spTree>
    <p:extLst>
      <p:ext uri="{BB962C8B-B14F-4D97-AF65-F5344CB8AC3E}">
        <p14:creationId xmlns:p14="http://schemas.microsoft.com/office/powerpoint/2010/main" val="2082738294"/>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Group 45">
            <a:extLst>
              <a:ext uri="{FF2B5EF4-FFF2-40B4-BE49-F238E27FC236}">
                <a16:creationId xmlns:a16="http://schemas.microsoft.com/office/drawing/2014/main" id="{34C510F2-7255-D7C3-9DCD-43BEBE1666BB}"/>
              </a:ext>
            </a:extLst>
          </p:cNvPr>
          <p:cNvGrpSpPr/>
          <p:nvPr/>
        </p:nvGrpSpPr>
        <p:grpSpPr>
          <a:xfrm>
            <a:off x="6097135" y="2093769"/>
            <a:ext cx="614038" cy="195517"/>
            <a:chOff x="6071533" y="2181217"/>
            <a:chExt cx="683266" cy="215444"/>
          </a:xfrm>
        </p:grpSpPr>
        <p:sp>
          <p:nvSpPr>
            <p:cNvPr id="43" name="TextBox 42">
              <a:extLst>
                <a:ext uri="{FF2B5EF4-FFF2-40B4-BE49-F238E27FC236}">
                  <a16:creationId xmlns:a16="http://schemas.microsoft.com/office/drawing/2014/main" id="{4A57E6C6-5BC4-200A-55C5-E63038F9478E}"/>
                </a:ext>
              </a:extLst>
            </p:cNvPr>
            <p:cNvSpPr txBox="1"/>
            <p:nvPr/>
          </p:nvSpPr>
          <p:spPr>
            <a:xfrm>
              <a:off x="6105590" y="2181217"/>
              <a:ext cx="649209" cy="215444"/>
            </a:xfrm>
            <a:prstGeom prst="rect">
              <a:avLst/>
            </a:prstGeom>
            <a:noFill/>
          </p:spPr>
          <p:txBody>
            <a:bodyPr wrap="square">
              <a:spAutoFit/>
            </a:bodyPr>
            <a:lstStyle/>
            <a:p>
              <a:pPr algn="ctr"/>
              <a:r>
                <a:rPr lang="en-US" sz="800" b="1" dirty="0" err="1">
                  <a:latin typeface="Arial Hebrew Scholar" pitchFamily="2" charset="-79"/>
                  <a:cs typeface="Arial Hebrew Scholar" pitchFamily="2" charset="-79"/>
                </a:rPr>
                <a:t>Github</a:t>
              </a:r>
              <a:endParaRPr lang="en-US" sz="800" b="1" dirty="0">
                <a:latin typeface="Arial Hebrew Scholar" pitchFamily="2" charset="-79"/>
                <a:cs typeface="Arial Hebrew Scholar" pitchFamily="2" charset="-79"/>
              </a:endParaRPr>
            </a:p>
          </p:txBody>
        </p:sp>
        <p:pic>
          <p:nvPicPr>
            <p:cNvPr id="1028" name="Picture 4" descr="Github Logo - Free social media icons">
              <a:extLst>
                <a:ext uri="{FF2B5EF4-FFF2-40B4-BE49-F238E27FC236}">
                  <a16:creationId xmlns:a16="http://schemas.microsoft.com/office/drawing/2014/main" id="{4C95027D-6E4F-D713-8DAE-329A92FB3C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0800000" flipV="1">
              <a:off x="6071533" y="2197843"/>
              <a:ext cx="166522" cy="166522"/>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36" name="Table 35">
            <a:extLst>
              <a:ext uri="{FF2B5EF4-FFF2-40B4-BE49-F238E27FC236}">
                <a16:creationId xmlns:a16="http://schemas.microsoft.com/office/drawing/2014/main" id="{DEBFABA5-206B-548E-3C0E-CC2EE202AB31}"/>
              </a:ext>
            </a:extLst>
          </p:cNvPr>
          <p:cNvGraphicFramePr>
            <a:graphicFrameLocks noGrp="1"/>
          </p:cNvGraphicFramePr>
          <p:nvPr>
            <p:extLst>
              <p:ext uri="{D42A27DB-BD31-4B8C-83A1-F6EECF244321}">
                <p14:modId xmlns:p14="http://schemas.microsoft.com/office/powerpoint/2010/main" val="361577943"/>
              </p:ext>
            </p:extLst>
          </p:nvPr>
        </p:nvGraphicFramePr>
        <p:xfrm>
          <a:off x="71979" y="2356347"/>
          <a:ext cx="3890421" cy="2622538"/>
        </p:xfrm>
        <a:graphic>
          <a:graphicData uri="http://schemas.openxmlformats.org/drawingml/2006/table">
            <a:tbl>
              <a:tblPr firstRow="1" bandRow="1">
                <a:tableStyleId>{5C22544A-7EE6-4342-B048-85BDC9FD1C3A}</a:tableStyleId>
              </a:tblPr>
              <a:tblGrid>
                <a:gridCol w="3890421">
                  <a:extLst>
                    <a:ext uri="{9D8B030D-6E8A-4147-A177-3AD203B41FA5}">
                      <a16:colId xmlns:a16="http://schemas.microsoft.com/office/drawing/2014/main" val="1520847292"/>
                    </a:ext>
                  </a:extLst>
                </a:gridCol>
              </a:tblGrid>
              <a:tr h="24380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b="1" dirty="0" err="1">
                          <a:solidFill>
                            <a:schemeClr val="bg1"/>
                          </a:solidFill>
                          <a:latin typeface="Arial (Body)"/>
                          <a:cs typeface="Arial" panose="020B0604020202020204" pitchFamily="34" charset="0"/>
                        </a:rPr>
                        <a:t>Giới</a:t>
                      </a:r>
                      <a:r>
                        <a:rPr lang="en-US" sz="1000" b="1" dirty="0">
                          <a:solidFill>
                            <a:schemeClr val="bg1"/>
                          </a:solidFill>
                          <a:latin typeface="Arial (Body)"/>
                          <a:cs typeface="Arial" panose="020B0604020202020204" pitchFamily="34" charset="0"/>
                        </a:rPr>
                        <a:t> </a:t>
                      </a:r>
                      <a:r>
                        <a:rPr lang="en-US" sz="1000" b="1" dirty="0" err="1">
                          <a:solidFill>
                            <a:schemeClr val="bg1"/>
                          </a:solidFill>
                          <a:latin typeface="Arial (Body)"/>
                          <a:cs typeface="Arial" panose="020B0604020202020204" pitchFamily="34" charset="0"/>
                        </a:rPr>
                        <a:t>thiệu</a:t>
                      </a:r>
                      <a:endParaRPr lang="en-US" sz="1000" b="1" dirty="0">
                        <a:solidFill>
                          <a:schemeClr val="bg1"/>
                        </a:solidFill>
                        <a:latin typeface="Arial (Body)"/>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3F99"/>
                    </a:solidFill>
                  </a:tcPr>
                </a:tc>
                <a:extLst>
                  <a:ext uri="{0D108BD9-81ED-4DB2-BD59-A6C34878D82A}">
                    <a16:rowId xmlns:a16="http://schemas.microsoft.com/office/drawing/2014/main" val="2535013272"/>
                  </a:ext>
                </a:extLst>
              </a:tr>
              <a:tr h="1189349">
                <a:tc>
                  <a:txBody>
                    <a:bodyPr/>
                    <a:lstStyle/>
                    <a:p>
                      <a:r>
                        <a:rPr lang="vi-VN" sz="800" b="0" dirty="0"/>
                        <a:t>    Trong bối cảnh chuyển đổi số, tối ưu hóa vận hành là yếu tố sống còn của doanh nghiệp. Bài tập lớn với đề tài “Xây dựng hệ thống quản trị khách hàng, công việc và nhân sự” được thực hiện nhằm mục tiêu số hóa toàn diện quy trình quản lý nội bộ trên nền tảng Odoo 19 và hạ tầng Docker.</a:t>
                      </a:r>
                    </a:p>
                    <a:p>
                      <a:r>
                        <a:rPr lang="vi-VN" sz="800" b="0" dirty="0"/>
                        <a:t>    Điểm nhấn của hệ thống là việc ứng dụng Model AI (Gradient Boosting) vào nghiệp vụ chấm điểm khách hàng và đánh giá KPI, giúp chuyển đổi dữ liệu thô thành các quyết định quản trị thông minh. Báo cáo sẽ trình bày ngắn gọn về giải pháp kỹ thuật và kết quả triển khai thực tế của dự án</a:t>
                      </a:r>
                    </a:p>
                    <a:p>
                      <a:endParaRPr lang="vi-VN" sz="800" dirty="0">
                        <a:latin typeface="Arial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7830843"/>
                  </a:ext>
                </a:extLst>
              </a:tr>
              <a:tr h="1189349">
                <a:tc>
                  <a:txBody>
                    <a:bodyPr/>
                    <a:lstStyle/>
                    <a:p>
                      <a:endParaRPr lang="vi-VN" sz="800" dirty="0">
                        <a:latin typeface="Arial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80973391"/>
                  </a:ext>
                </a:extLst>
              </a:tr>
            </a:tbl>
          </a:graphicData>
        </a:graphic>
      </p:graphicFrame>
      <p:graphicFrame>
        <p:nvGraphicFramePr>
          <p:cNvPr id="7" name="Table 6">
            <a:extLst>
              <a:ext uri="{FF2B5EF4-FFF2-40B4-BE49-F238E27FC236}">
                <a16:creationId xmlns:a16="http://schemas.microsoft.com/office/drawing/2014/main" id="{56751592-98ED-BE76-ED93-630A31DCD2F6}"/>
              </a:ext>
            </a:extLst>
          </p:cNvPr>
          <p:cNvGraphicFramePr>
            <a:graphicFrameLocks noGrp="1"/>
          </p:cNvGraphicFramePr>
          <p:nvPr>
            <p:extLst>
              <p:ext uri="{D42A27DB-BD31-4B8C-83A1-F6EECF244321}">
                <p14:modId xmlns:p14="http://schemas.microsoft.com/office/powerpoint/2010/main" val="1551851273"/>
              </p:ext>
            </p:extLst>
          </p:nvPr>
        </p:nvGraphicFramePr>
        <p:xfrm>
          <a:off x="4027952" y="2360409"/>
          <a:ext cx="2789416" cy="2289637"/>
        </p:xfrm>
        <a:graphic>
          <a:graphicData uri="http://schemas.openxmlformats.org/drawingml/2006/table">
            <a:tbl>
              <a:tblPr firstRow="1" bandRow="1">
                <a:tableStyleId>{5C22544A-7EE6-4342-B048-85BDC9FD1C3A}</a:tableStyleId>
              </a:tblPr>
              <a:tblGrid>
                <a:gridCol w="2789416">
                  <a:extLst>
                    <a:ext uri="{9D8B030D-6E8A-4147-A177-3AD203B41FA5}">
                      <a16:colId xmlns:a16="http://schemas.microsoft.com/office/drawing/2014/main" val="1520847292"/>
                    </a:ext>
                  </a:extLst>
                </a:gridCol>
              </a:tblGrid>
              <a:tr h="252445">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b="1" dirty="0" err="1">
                          <a:solidFill>
                            <a:schemeClr val="bg1"/>
                          </a:solidFill>
                          <a:latin typeface="Arial" panose="020B0604020202020204" pitchFamily="34" charset="0"/>
                          <a:cs typeface="Arial" panose="020B0604020202020204" pitchFamily="34" charset="0"/>
                        </a:rPr>
                        <a:t>Kiến</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trúc</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hệ</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thống</a:t>
                      </a:r>
                      <a:endParaRPr lang="en-US" sz="1000" b="1" dirty="0">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233F99"/>
                    </a:solidFill>
                  </a:tcPr>
                </a:tc>
                <a:extLst>
                  <a:ext uri="{0D108BD9-81ED-4DB2-BD59-A6C34878D82A}">
                    <a16:rowId xmlns:a16="http://schemas.microsoft.com/office/drawing/2014/main" val="2535013272"/>
                  </a:ext>
                </a:extLst>
              </a:tr>
              <a:tr h="203719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7830843"/>
                  </a:ext>
                </a:extLst>
              </a:tr>
            </a:tbl>
          </a:graphicData>
        </a:graphic>
      </p:graphicFrame>
      <p:grpSp>
        <p:nvGrpSpPr>
          <p:cNvPr id="70" name="Group 69">
            <a:extLst>
              <a:ext uri="{FF2B5EF4-FFF2-40B4-BE49-F238E27FC236}">
                <a16:creationId xmlns:a16="http://schemas.microsoft.com/office/drawing/2014/main" id="{518BA7C7-D5B3-521F-4863-EB6372F08A16}"/>
              </a:ext>
            </a:extLst>
          </p:cNvPr>
          <p:cNvGrpSpPr/>
          <p:nvPr/>
        </p:nvGrpSpPr>
        <p:grpSpPr>
          <a:xfrm>
            <a:off x="0" y="-39866"/>
            <a:ext cx="6858000" cy="2289646"/>
            <a:chOff x="0" y="-40063"/>
            <a:chExt cx="6858000" cy="2289646"/>
          </a:xfrm>
        </p:grpSpPr>
        <p:grpSp>
          <p:nvGrpSpPr>
            <p:cNvPr id="27" name="Group 26">
              <a:extLst>
                <a:ext uri="{FF2B5EF4-FFF2-40B4-BE49-F238E27FC236}">
                  <a16:creationId xmlns:a16="http://schemas.microsoft.com/office/drawing/2014/main" id="{076F30E7-DE29-4869-A261-9356210766F3}"/>
                </a:ext>
              </a:extLst>
            </p:cNvPr>
            <p:cNvGrpSpPr/>
            <p:nvPr/>
          </p:nvGrpSpPr>
          <p:grpSpPr>
            <a:xfrm>
              <a:off x="0" y="-40063"/>
              <a:ext cx="6858000" cy="1149907"/>
              <a:chOff x="0" y="-40063"/>
              <a:chExt cx="6858000" cy="1149907"/>
            </a:xfrm>
          </p:grpSpPr>
          <p:pic>
            <p:nvPicPr>
              <p:cNvPr id="39" name="Picture 38">
                <a:extLst>
                  <a:ext uri="{FF2B5EF4-FFF2-40B4-BE49-F238E27FC236}">
                    <a16:creationId xmlns:a16="http://schemas.microsoft.com/office/drawing/2014/main" id="{7ABF4E65-9336-CED4-40B5-828F0E50C5E5}"/>
                  </a:ext>
                </a:extLst>
              </p:cNvPr>
              <p:cNvPicPr>
                <a:picLocks noChangeAspect="1"/>
              </p:cNvPicPr>
              <p:nvPr/>
            </p:nvPicPr>
            <p:blipFill>
              <a:blip r:embed="rId3"/>
              <a:stretch>
                <a:fillRect/>
              </a:stretch>
            </p:blipFill>
            <p:spPr>
              <a:xfrm>
                <a:off x="0" y="-1275"/>
                <a:ext cx="6858000" cy="1111119"/>
              </a:xfrm>
              <a:prstGeom prst="rect">
                <a:avLst/>
              </a:prstGeom>
            </p:spPr>
          </p:pic>
          <p:sp>
            <p:nvSpPr>
              <p:cNvPr id="40" name="TextBox 39">
                <a:extLst>
                  <a:ext uri="{FF2B5EF4-FFF2-40B4-BE49-F238E27FC236}">
                    <a16:creationId xmlns:a16="http://schemas.microsoft.com/office/drawing/2014/main" id="{E6C724AE-79C3-CBF7-13D9-AFB8C50186BA}"/>
                  </a:ext>
                </a:extLst>
              </p:cNvPr>
              <p:cNvSpPr txBox="1"/>
              <p:nvPr/>
            </p:nvSpPr>
            <p:spPr>
              <a:xfrm>
                <a:off x="2370087" y="-40063"/>
                <a:ext cx="2129108" cy="400110"/>
              </a:xfrm>
              <a:prstGeom prst="rect">
                <a:avLst/>
              </a:prstGeom>
              <a:noFill/>
            </p:spPr>
            <p:txBody>
              <a:bodyPr wrap="none" rtlCol="0">
                <a:spAutoFit/>
              </a:bodyPr>
              <a:lstStyle/>
              <a:p>
                <a:pPr algn="ctr"/>
                <a:r>
                  <a:rPr lang="en-US" sz="1000" b="1">
                    <a:solidFill>
                      <a:schemeClr val="bg1"/>
                    </a:solidFill>
                    <a:latin typeface="Arial Hebrew Scholar" pitchFamily="2" charset="-79"/>
                    <a:cs typeface="Arial Hebrew Scholar" pitchFamily="2" charset="-79"/>
                  </a:rPr>
                  <a:t>TRƯỜNG ĐẠI HỌC ĐẠI NAM</a:t>
                </a:r>
              </a:p>
              <a:p>
                <a:pPr algn="ctr"/>
                <a:r>
                  <a:rPr lang="en-US" sz="1000" b="1">
                    <a:solidFill>
                      <a:schemeClr val="bg1"/>
                    </a:solidFill>
                    <a:latin typeface="Arial Hebrew Scholar" pitchFamily="2" charset="-79"/>
                    <a:cs typeface="Arial Hebrew Scholar" pitchFamily="2" charset="-79"/>
                  </a:rPr>
                  <a:t>KHOA CÔNG NGHỆ THÔNG TIN</a:t>
                </a:r>
              </a:p>
            </p:txBody>
          </p:sp>
        </p:grpSp>
        <p:grpSp>
          <p:nvGrpSpPr>
            <p:cNvPr id="65" name="Group 64">
              <a:extLst>
                <a:ext uri="{FF2B5EF4-FFF2-40B4-BE49-F238E27FC236}">
                  <a16:creationId xmlns:a16="http://schemas.microsoft.com/office/drawing/2014/main" id="{36EBD40C-8A27-10B2-BA61-9E94053E57EA}"/>
                </a:ext>
              </a:extLst>
            </p:cNvPr>
            <p:cNvGrpSpPr/>
            <p:nvPr/>
          </p:nvGrpSpPr>
          <p:grpSpPr>
            <a:xfrm>
              <a:off x="0" y="1082578"/>
              <a:ext cx="6858000" cy="1167005"/>
              <a:chOff x="0" y="1082578"/>
              <a:chExt cx="6858000" cy="1167005"/>
            </a:xfrm>
          </p:grpSpPr>
          <p:sp>
            <p:nvSpPr>
              <p:cNvPr id="5" name="Title 1">
                <a:extLst>
                  <a:ext uri="{FF2B5EF4-FFF2-40B4-BE49-F238E27FC236}">
                    <a16:creationId xmlns:a16="http://schemas.microsoft.com/office/drawing/2014/main" id="{3D9E4F7B-BDBB-AF4A-B4AD-63280788DEC9}"/>
                  </a:ext>
                </a:extLst>
              </p:cNvPr>
              <p:cNvSpPr txBox="1">
                <a:spLocks/>
              </p:cNvSpPr>
              <p:nvPr/>
            </p:nvSpPr>
            <p:spPr>
              <a:xfrm>
                <a:off x="0" y="1082578"/>
                <a:ext cx="6765928" cy="329891"/>
              </a:xfrm>
              <a:prstGeom prst="rect">
                <a:avLst/>
              </a:prstGeom>
            </p:spPr>
            <p:txBody>
              <a:bodyPr vert="horz" lIns="20299" tIns="10150" rIns="20299" bIns="10150" rtlCol="0" anchor="ctr">
                <a:noAutofit/>
              </a:bodyPr>
              <a:lstStyle>
                <a:lvl1pPr algn="ctr" defTabSz="2880360" rtl="0" eaLnBrk="1" latinLnBrk="0" hangingPunct="1">
                  <a:lnSpc>
                    <a:spcPct val="90000"/>
                  </a:lnSpc>
                  <a:spcBef>
                    <a:spcPct val="0"/>
                  </a:spcBef>
                  <a:buNone/>
                  <a:defRPr sz="18900" kern="1200">
                    <a:solidFill>
                      <a:schemeClr val="tx1"/>
                    </a:solidFill>
                    <a:latin typeface="+mj-lt"/>
                    <a:ea typeface="+mj-ea"/>
                    <a:cs typeface="+mj-cs"/>
                  </a:defRPr>
                </a:lvl1pPr>
              </a:lstStyle>
              <a:p>
                <a:r>
                  <a:rPr lang="en-US" sz="1200" b="1" dirty="0" err="1">
                    <a:solidFill>
                      <a:schemeClr val="accent2"/>
                    </a:solidFill>
                    <a:latin typeface="Arial Hebrew Scholar" pitchFamily="2" charset="-79"/>
                    <a:cs typeface="Arial Hebrew Scholar" pitchFamily="2" charset="-79"/>
                  </a:rPr>
                  <a:t>ERP: HỆ THỐNG QUẢN LÝ TÀI SẢN</a:t>
                </a:r>
                <a:endParaRPr lang="en-US" sz="1200" b="1" dirty="0">
                  <a:solidFill>
                    <a:schemeClr val="accent2"/>
                  </a:solidFill>
                  <a:latin typeface="Arial Hebrew Scholar" pitchFamily="2" charset="-79"/>
                  <a:cs typeface="Arial Hebrew Scholar" pitchFamily="2" charset="-79"/>
                </a:endParaRPr>
              </a:p>
            </p:txBody>
          </p:sp>
          <p:sp>
            <p:nvSpPr>
              <p:cNvPr id="6" name="Rectangle 5">
                <a:extLst>
                  <a:ext uri="{FF2B5EF4-FFF2-40B4-BE49-F238E27FC236}">
                    <a16:creationId xmlns:a16="http://schemas.microsoft.com/office/drawing/2014/main" id="{FDB71301-74E9-3D33-787D-882C46CB1337}"/>
                  </a:ext>
                </a:extLst>
              </p:cNvPr>
              <p:cNvSpPr/>
              <p:nvPr/>
            </p:nvSpPr>
            <p:spPr>
              <a:xfrm>
                <a:off x="0" y="1337994"/>
                <a:ext cx="6858000" cy="14559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vi-VN" sz="799" b="1" dirty="0"/>
                  <a:t>Lương Quốc Diệu , Đào Duy Mạnh , Lã việt Hoàng</a:t>
                </a:r>
                <a:endParaRPr lang="en-US" sz="799" b="1" dirty="0"/>
              </a:p>
            </p:txBody>
          </p:sp>
          <p:pic>
            <p:nvPicPr>
              <p:cNvPr id="63" name="Picture 62">
                <a:extLst>
                  <a:ext uri="{FF2B5EF4-FFF2-40B4-BE49-F238E27FC236}">
                    <a16:creationId xmlns:a16="http://schemas.microsoft.com/office/drawing/2014/main" id="{77C1551A-D245-378A-F0E2-59C5BABF9FCD}"/>
                  </a:ext>
                </a:extLst>
              </p:cNvPr>
              <p:cNvPicPr>
                <a:picLocks noChangeAspect="1"/>
              </p:cNvPicPr>
              <p:nvPr/>
            </p:nvPicPr>
            <p:blipFill>
              <a:blip r:embed="rId4"/>
              <a:stretch>
                <a:fillRect/>
              </a:stretch>
            </p:blipFill>
            <p:spPr>
              <a:xfrm>
                <a:off x="2620895" y="1512206"/>
                <a:ext cx="1616210" cy="737377"/>
              </a:xfrm>
              <a:prstGeom prst="rect">
                <a:avLst/>
              </a:prstGeom>
            </p:spPr>
          </p:pic>
        </p:grpSp>
      </p:grpSp>
      <p:graphicFrame>
        <p:nvGraphicFramePr>
          <p:cNvPr id="73" name="Table 72">
            <a:extLst>
              <a:ext uri="{FF2B5EF4-FFF2-40B4-BE49-F238E27FC236}">
                <a16:creationId xmlns:a16="http://schemas.microsoft.com/office/drawing/2014/main" id="{1CED74D1-B04A-EC38-34C4-DD7DDC44634A}"/>
              </a:ext>
            </a:extLst>
          </p:cNvPr>
          <p:cNvGraphicFramePr>
            <a:graphicFrameLocks noGrp="1"/>
          </p:cNvGraphicFramePr>
          <p:nvPr>
            <p:extLst>
              <p:ext uri="{D42A27DB-BD31-4B8C-83A1-F6EECF244321}">
                <p14:modId xmlns:p14="http://schemas.microsoft.com/office/powerpoint/2010/main" val="3346846593"/>
              </p:ext>
            </p:extLst>
          </p:nvPr>
        </p:nvGraphicFramePr>
        <p:xfrm>
          <a:off x="4027952" y="4670365"/>
          <a:ext cx="2789415" cy="1926010"/>
        </p:xfrm>
        <a:graphic>
          <a:graphicData uri="http://schemas.openxmlformats.org/drawingml/2006/table">
            <a:tbl>
              <a:tblPr firstRow="1" bandRow="1">
                <a:tableStyleId>{5C22544A-7EE6-4342-B048-85BDC9FD1C3A}</a:tableStyleId>
              </a:tblPr>
              <a:tblGrid>
                <a:gridCol w="2789415">
                  <a:extLst>
                    <a:ext uri="{9D8B030D-6E8A-4147-A177-3AD203B41FA5}">
                      <a16:colId xmlns:a16="http://schemas.microsoft.com/office/drawing/2014/main" val="1520847292"/>
                    </a:ext>
                  </a:extLst>
                </a:gridCol>
              </a:tblGrid>
              <a:tr h="255726">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b="1" dirty="0">
                          <a:solidFill>
                            <a:schemeClr val="bg1"/>
                          </a:solidFill>
                          <a:latin typeface="Arial" panose="020B0604020202020204" pitchFamily="34" charset="0"/>
                          <a:cs typeface="Arial" panose="020B0604020202020204" pitchFamily="34" charset="0"/>
                        </a:rPr>
                        <a:t>Công </a:t>
                      </a:r>
                      <a:r>
                        <a:rPr lang="en-US" sz="1000" b="1" dirty="0" err="1">
                          <a:solidFill>
                            <a:schemeClr val="bg1"/>
                          </a:solidFill>
                          <a:latin typeface="Arial" panose="020B0604020202020204" pitchFamily="34" charset="0"/>
                          <a:cs typeface="Arial" panose="020B0604020202020204" pitchFamily="34" charset="0"/>
                        </a:rPr>
                        <a:t>nghệ</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sử</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dụng</a:t>
                      </a:r>
                      <a:endParaRPr lang="en-US" sz="1000" b="1" dirty="0">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3F99"/>
                    </a:solidFill>
                  </a:tcPr>
                </a:tc>
                <a:extLst>
                  <a:ext uri="{0D108BD9-81ED-4DB2-BD59-A6C34878D82A}">
                    <a16:rowId xmlns:a16="http://schemas.microsoft.com/office/drawing/2014/main" val="2535013272"/>
                  </a:ext>
                </a:extLst>
              </a:tr>
              <a:tr h="1670284">
                <a:tc>
                  <a:txBody>
                    <a:bodyPr/>
                    <a:lstStyle/>
                    <a:p>
                      <a:pPr algn="just"/>
                      <a:endParaRPr lang="vi-VN" sz="900" dirty="0">
                        <a:latin typeface="Arial" panose="020B0604020202020204" pitchFamily="34" charset="0"/>
                        <a:cs typeface="Arial Hebrew Scholar"/>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7830843"/>
                  </a:ext>
                </a:extLst>
              </a:tr>
            </a:tbl>
          </a:graphicData>
        </a:graphic>
      </p:graphicFrame>
      <p:pic>
        <p:nvPicPr>
          <p:cNvPr id="72" name="Picture 71">
            <a:extLst>
              <a:ext uri="{FF2B5EF4-FFF2-40B4-BE49-F238E27FC236}">
                <a16:creationId xmlns:a16="http://schemas.microsoft.com/office/drawing/2014/main" id="{023B2A99-2661-4945-745B-F6C3161DB1B7}"/>
              </a:ext>
            </a:extLst>
          </p:cNvPr>
          <p:cNvPicPr>
            <a:picLocks noChangeAspect="1"/>
          </p:cNvPicPr>
          <p:nvPr/>
        </p:nvPicPr>
        <p:blipFill>
          <a:blip r:embed="rId5"/>
          <a:stretch>
            <a:fillRect/>
          </a:stretch>
        </p:blipFill>
        <p:spPr>
          <a:xfrm>
            <a:off x="4223334" y="4963336"/>
            <a:ext cx="2378325" cy="1608543"/>
          </a:xfrm>
          <a:prstGeom prst="rect">
            <a:avLst/>
          </a:prstGeom>
        </p:spPr>
      </p:pic>
      <p:graphicFrame>
        <p:nvGraphicFramePr>
          <p:cNvPr id="82" name="Table 81">
            <a:extLst>
              <a:ext uri="{FF2B5EF4-FFF2-40B4-BE49-F238E27FC236}">
                <a16:creationId xmlns:a16="http://schemas.microsoft.com/office/drawing/2014/main" id="{232FA873-71B4-C434-9F8C-88FB366D900C}"/>
              </a:ext>
            </a:extLst>
          </p:cNvPr>
          <p:cNvGraphicFramePr>
            <a:graphicFrameLocks noGrp="1"/>
          </p:cNvGraphicFramePr>
          <p:nvPr>
            <p:extLst>
              <p:ext uri="{D42A27DB-BD31-4B8C-83A1-F6EECF244321}">
                <p14:modId xmlns:p14="http://schemas.microsoft.com/office/powerpoint/2010/main" val="2501665568"/>
              </p:ext>
            </p:extLst>
          </p:nvPr>
        </p:nvGraphicFramePr>
        <p:xfrm>
          <a:off x="71978" y="3794556"/>
          <a:ext cx="3890421" cy="6055182"/>
        </p:xfrm>
        <a:graphic>
          <a:graphicData uri="http://schemas.openxmlformats.org/drawingml/2006/table">
            <a:tbl>
              <a:tblPr firstRow="1" bandRow="1">
                <a:tableStyleId>{5C22544A-7EE6-4342-B048-85BDC9FD1C3A}</a:tableStyleId>
              </a:tblPr>
              <a:tblGrid>
                <a:gridCol w="3890421">
                  <a:extLst>
                    <a:ext uri="{9D8B030D-6E8A-4147-A177-3AD203B41FA5}">
                      <a16:colId xmlns:a16="http://schemas.microsoft.com/office/drawing/2014/main" val="1520847292"/>
                    </a:ext>
                  </a:extLst>
                </a:gridCol>
              </a:tblGrid>
              <a:tr h="122328">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b="1" dirty="0">
                          <a:solidFill>
                            <a:schemeClr val="bg1"/>
                          </a:solidFill>
                          <a:latin typeface="Arial" panose="020B0604020202020204" pitchFamily="34" charset="0"/>
                          <a:cs typeface="Arial" panose="020B0604020202020204" pitchFamily="34" charset="0"/>
                        </a:rPr>
                        <a:t>Giao </a:t>
                      </a:r>
                      <a:r>
                        <a:rPr lang="vi-VN" sz="1000" b="1" dirty="0">
                          <a:solidFill>
                            <a:schemeClr val="bg1"/>
                          </a:solidFill>
                          <a:latin typeface="Arial" panose="020B0604020202020204" pitchFamily="34" charset="0"/>
                          <a:cs typeface="Arial" panose="020B0604020202020204" pitchFamily="34" charset="0"/>
                        </a:rPr>
                        <a:t>diện phần mềm</a:t>
                      </a:r>
                      <a:endParaRPr lang="en-US" sz="1000" b="1" dirty="0">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3F99"/>
                    </a:solidFill>
                  </a:tcPr>
                </a:tc>
                <a:extLst>
                  <a:ext uri="{0D108BD9-81ED-4DB2-BD59-A6C34878D82A}">
                    <a16:rowId xmlns:a16="http://schemas.microsoft.com/office/drawing/2014/main" val="2535013272"/>
                  </a:ext>
                </a:extLst>
              </a:tr>
              <a:tr h="581134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97733821"/>
                  </a:ext>
                </a:extLst>
              </a:tr>
            </a:tbl>
          </a:graphicData>
        </a:graphic>
      </p:graphicFrame>
      <p:graphicFrame>
        <p:nvGraphicFramePr>
          <p:cNvPr id="89" name="Table 88">
            <a:extLst>
              <a:ext uri="{FF2B5EF4-FFF2-40B4-BE49-F238E27FC236}">
                <a16:creationId xmlns:a16="http://schemas.microsoft.com/office/drawing/2014/main" id="{F959286E-D53A-FB49-5826-7326306DBEDE}"/>
              </a:ext>
            </a:extLst>
          </p:cNvPr>
          <p:cNvGraphicFramePr>
            <a:graphicFrameLocks noGrp="1"/>
          </p:cNvGraphicFramePr>
          <p:nvPr>
            <p:extLst>
              <p:ext uri="{D42A27DB-BD31-4B8C-83A1-F6EECF244321}">
                <p14:modId xmlns:p14="http://schemas.microsoft.com/office/powerpoint/2010/main" val="4259971899"/>
              </p:ext>
            </p:extLst>
          </p:nvPr>
        </p:nvGraphicFramePr>
        <p:xfrm>
          <a:off x="4027951" y="6619313"/>
          <a:ext cx="2789417" cy="1426181"/>
        </p:xfrm>
        <a:graphic>
          <a:graphicData uri="http://schemas.openxmlformats.org/drawingml/2006/table">
            <a:tbl>
              <a:tblPr firstRow="1" bandRow="1">
                <a:tableStyleId>{5C22544A-7EE6-4342-B048-85BDC9FD1C3A}</a:tableStyleId>
              </a:tblPr>
              <a:tblGrid>
                <a:gridCol w="2789417">
                  <a:extLst>
                    <a:ext uri="{9D8B030D-6E8A-4147-A177-3AD203B41FA5}">
                      <a16:colId xmlns:a16="http://schemas.microsoft.com/office/drawing/2014/main" val="1520847292"/>
                    </a:ext>
                  </a:extLst>
                </a:gridCol>
              </a:tblGrid>
              <a:tr h="14651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b="1" dirty="0">
                          <a:solidFill>
                            <a:schemeClr val="bg1"/>
                          </a:solidFill>
                          <a:latin typeface="Arial" panose="020B0604020202020204" pitchFamily="34" charset="0"/>
                          <a:cs typeface="Arial" panose="020B0604020202020204" pitchFamily="34" charset="0"/>
                        </a:rPr>
                        <a:t>Platform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233F99"/>
                    </a:solidFill>
                  </a:tcPr>
                </a:tc>
                <a:extLst>
                  <a:ext uri="{0D108BD9-81ED-4DB2-BD59-A6C34878D82A}">
                    <a16:rowId xmlns:a16="http://schemas.microsoft.com/office/drawing/2014/main" val="2535013272"/>
                  </a:ext>
                </a:extLst>
              </a:tr>
              <a:tr h="118234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7830843"/>
                  </a:ext>
                </a:extLst>
              </a:tr>
            </a:tbl>
          </a:graphicData>
        </a:graphic>
      </p:graphicFrame>
      <p:graphicFrame>
        <p:nvGraphicFramePr>
          <p:cNvPr id="90" name="Table 89">
            <a:extLst>
              <a:ext uri="{FF2B5EF4-FFF2-40B4-BE49-F238E27FC236}">
                <a16:creationId xmlns:a16="http://schemas.microsoft.com/office/drawing/2014/main" id="{0335167A-EED6-A656-BA4F-2AD2225BD2B1}"/>
              </a:ext>
            </a:extLst>
          </p:cNvPr>
          <p:cNvGraphicFramePr>
            <a:graphicFrameLocks noGrp="1"/>
          </p:cNvGraphicFramePr>
          <p:nvPr>
            <p:extLst>
              <p:ext uri="{D42A27DB-BD31-4B8C-83A1-F6EECF244321}">
                <p14:modId xmlns:p14="http://schemas.microsoft.com/office/powerpoint/2010/main" val="3189498242"/>
              </p:ext>
            </p:extLst>
          </p:nvPr>
        </p:nvGraphicFramePr>
        <p:xfrm>
          <a:off x="4027950" y="8068432"/>
          <a:ext cx="2789417" cy="1643090"/>
        </p:xfrm>
        <a:graphic>
          <a:graphicData uri="http://schemas.openxmlformats.org/drawingml/2006/table">
            <a:tbl>
              <a:tblPr firstRow="1" bandRow="1">
                <a:tableStyleId>{5C22544A-7EE6-4342-B048-85BDC9FD1C3A}</a:tableStyleId>
              </a:tblPr>
              <a:tblGrid>
                <a:gridCol w="2789417">
                  <a:extLst>
                    <a:ext uri="{9D8B030D-6E8A-4147-A177-3AD203B41FA5}">
                      <a16:colId xmlns:a16="http://schemas.microsoft.com/office/drawing/2014/main" val="1520847292"/>
                    </a:ext>
                  </a:extLst>
                </a:gridCol>
              </a:tblGrid>
              <a:tr h="208399">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b="1" dirty="0" err="1">
                          <a:solidFill>
                            <a:schemeClr val="bg1"/>
                          </a:solidFill>
                          <a:latin typeface="Arial (Body)"/>
                          <a:cs typeface="Arial" panose="020B0604020202020204" pitchFamily="34" charset="0"/>
                        </a:rPr>
                        <a:t>Hướng</a:t>
                      </a:r>
                      <a:r>
                        <a:rPr lang="en-US" sz="1000" b="1" dirty="0">
                          <a:solidFill>
                            <a:schemeClr val="bg1"/>
                          </a:solidFill>
                          <a:latin typeface="Arial (Body)"/>
                          <a:cs typeface="Arial" panose="020B0604020202020204" pitchFamily="34" charset="0"/>
                        </a:rPr>
                        <a:t> </a:t>
                      </a:r>
                      <a:r>
                        <a:rPr lang="en-US" sz="1000" b="1" dirty="0" err="1">
                          <a:solidFill>
                            <a:schemeClr val="bg1"/>
                          </a:solidFill>
                          <a:latin typeface="Arial (Body)"/>
                          <a:cs typeface="Arial" panose="020B0604020202020204" pitchFamily="34" charset="0"/>
                        </a:rPr>
                        <a:t>phát</a:t>
                      </a:r>
                      <a:r>
                        <a:rPr lang="en-US" sz="1000" b="1" dirty="0">
                          <a:solidFill>
                            <a:schemeClr val="bg1"/>
                          </a:solidFill>
                          <a:latin typeface="Arial (Body)"/>
                          <a:cs typeface="Arial" panose="020B0604020202020204" pitchFamily="34" charset="0"/>
                        </a:rPr>
                        <a:t> </a:t>
                      </a:r>
                      <a:r>
                        <a:rPr lang="en-US" sz="1000" b="1" dirty="0" err="1">
                          <a:solidFill>
                            <a:schemeClr val="bg1"/>
                          </a:solidFill>
                          <a:latin typeface="Arial (Body)"/>
                          <a:cs typeface="Arial" panose="020B0604020202020204" pitchFamily="34" charset="0"/>
                        </a:rPr>
                        <a:t>triển</a:t>
                      </a:r>
                      <a:endParaRPr lang="en-US" sz="1000" b="1" dirty="0">
                        <a:solidFill>
                          <a:schemeClr val="bg1"/>
                        </a:solidFill>
                        <a:latin typeface="Arial (Body)"/>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233F99"/>
                    </a:solidFill>
                  </a:tcPr>
                </a:tc>
                <a:extLst>
                  <a:ext uri="{0D108BD9-81ED-4DB2-BD59-A6C34878D82A}">
                    <a16:rowId xmlns:a16="http://schemas.microsoft.com/office/drawing/2014/main" val="2535013272"/>
                  </a:ext>
                </a:extLst>
              </a:tr>
              <a:tr h="139925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vi-VN" sz="800" kern="1200" dirty="0">
                          <a:solidFill>
                            <a:schemeClr val="dk1"/>
                          </a:solidFill>
                          <a:effectLst/>
                          <a:latin typeface="Arial (Body)"/>
                          <a:ea typeface="+mn-ea"/>
                          <a:cs typeface="+mn-cs"/>
                        </a:rPr>
                        <a:t>     Để hệ thống hoàn thiện hơn và có khả năng ứng dụng thực tế rộng rãi, nhóm đề xuất các hướng phát triển trong tương lai như sau:</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vi-VN" sz="800" kern="1200" dirty="0">
                          <a:solidFill>
                            <a:schemeClr val="dk1"/>
                          </a:solidFill>
                          <a:effectLst/>
                          <a:latin typeface="Arial (Body)"/>
                          <a:ea typeface="+mn-ea"/>
                          <a:cs typeface="+mn-cs"/>
                        </a:rPr>
                        <a:t>Nâng cấp Model AI</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vi-VN" sz="800" kern="1200" dirty="0">
                          <a:solidFill>
                            <a:schemeClr val="dk1"/>
                          </a:solidFill>
                          <a:effectLst/>
                          <a:latin typeface="Arial (Body)"/>
                          <a:ea typeface="+mn-ea"/>
                          <a:cs typeface="+mn-cs"/>
                        </a:rPr>
                        <a:t>Mở rộng Module: Tích hợp thêm module Kế toán (Accounting) và Kho hàng (Inventory)</a:t>
                      </a:r>
                      <a:br>
                        <a:rPr lang="vi-VN" sz="800" kern="1200" dirty="0">
                          <a:solidFill>
                            <a:schemeClr val="dk1"/>
                          </a:solidFill>
                          <a:effectLst/>
                          <a:latin typeface="Arial (Body)"/>
                          <a:ea typeface="+mn-ea"/>
                          <a:cs typeface="+mn-cs"/>
                        </a:rPr>
                      </a:br>
                      <a:r>
                        <a:rPr lang="vi-VN" sz="800" kern="1200" dirty="0">
                          <a:solidFill>
                            <a:schemeClr val="dk1"/>
                          </a:solidFill>
                          <a:effectLst/>
                          <a:latin typeface="Arial (Body)"/>
                          <a:ea typeface="+mn-ea"/>
                          <a:cs typeface="+mn-cs"/>
                        </a:rPr>
                        <a:t>Tự động hóa nâng cao: Xây dựng hệ thống Bot tự động tương tác với khách hàng qua đa kênh </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vi-VN" sz="800" kern="1200" dirty="0">
                          <a:solidFill>
                            <a:schemeClr val="dk1"/>
                          </a:solidFill>
                          <a:effectLst/>
                          <a:latin typeface="Arial (Body)"/>
                          <a:ea typeface="+mn-ea"/>
                          <a:cs typeface="+mn-cs"/>
                        </a:rPr>
                        <a:t>Triển khai đa nền tảng: Phát triển ứng dụng Mobile (Mobile App)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637830843"/>
                  </a:ext>
                </a:extLst>
              </a:tr>
            </a:tbl>
          </a:graphicData>
        </a:graphic>
      </p:graphicFrame>
      <p:sp>
        <p:nvSpPr>
          <p:cNvPr id="92" name="TextBox 91">
            <a:extLst>
              <a:ext uri="{FF2B5EF4-FFF2-40B4-BE49-F238E27FC236}">
                <a16:creationId xmlns:a16="http://schemas.microsoft.com/office/drawing/2014/main" id="{A0C06921-7CE0-2846-54DF-FEF2E2972390}"/>
              </a:ext>
            </a:extLst>
          </p:cNvPr>
          <p:cNvSpPr txBox="1"/>
          <p:nvPr/>
        </p:nvSpPr>
        <p:spPr>
          <a:xfrm>
            <a:off x="3943438" y="9676081"/>
            <a:ext cx="2958439" cy="215444"/>
          </a:xfrm>
          <a:prstGeom prst="rect">
            <a:avLst/>
          </a:prstGeom>
          <a:noFill/>
        </p:spPr>
        <p:txBody>
          <a:bodyPr wrap="square">
            <a:spAutoFit/>
          </a:bodyPr>
          <a:lstStyle/>
          <a:p>
            <a:pPr algn="ctr"/>
            <a:r>
              <a:rPr lang="en-US" sz="750" dirty="0">
                <a:latin typeface="Arial" panose="020B0604020202020204" pitchFamily="34" charset="0"/>
                <a:cs typeface="Arial Hebrew Scholar"/>
              </a:rPr>
              <a:t>©</a:t>
            </a:r>
            <a:r>
              <a:rPr lang="en-US" sz="750" dirty="0" err="1">
                <a:latin typeface="Arial" panose="020B0604020202020204" pitchFamily="34" charset="0"/>
                <a:cs typeface="Arial Hebrew Scholar"/>
              </a:rPr>
              <a:t>AIoTLab</a:t>
            </a:r>
            <a:r>
              <a:rPr lang="en-US" sz="750" dirty="0">
                <a:latin typeface="Arial" panose="020B0604020202020204" pitchFamily="34" charset="0"/>
                <a:cs typeface="Arial Hebrew Scholar"/>
              </a:rPr>
              <a:t>, Faculty of Information Technology, </a:t>
            </a:r>
            <a:r>
              <a:rPr lang="en-US" sz="750" dirty="0" err="1">
                <a:latin typeface="Arial" panose="020B0604020202020204" pitchFamily="34" charset="0"/>
                <a:cs typeface="Arial Hebrew Scholar"/>
              </a:rPr>
              <a:t>DaiNam</a:t>
            </a:r>
            <a:r>
              <a:rPr lang="en-US" sz="750" dirty="0">
                <a:latin typeface="Arial" panose="020B0604020202020204" pitchFamily="34" charset="0"/>
                <a:cs typeface="Arial Hebrew Scholar"/>
              </a:rPr>
              <a:t> University</a:t>
            </a:r>
          </a:p>
        </p:txBody>
      </p:sp>
      <p:grpSp>
        <p:nvGrpSpPr>
          <p:cNvPr id="1024" name="Group 1023">
            <a:extLst>
              <a:ext uri="{FF2B5EF4-FFF2-40B4-BE49-F238E27FC236}">
                <a16:creationId xmlns:a16="http://schemas.microsoft.com/office/drawing/2014/main" id="{744A033B-ADB1-65DC-6E8B-77A248771067}"/>
              </a:ext>
            </a:extLst>
          </p:cNvPr>
          <p:cNvGrpSpPr/>
          <p:nvPr/>
        </p:nvGrpSpPr>
        <p:grpSpPr>
          <a:xfrm>
            <a:off x="4535229" y="7599157"/>
            <a:ext cx="683266" cy="362763"/>
            <a:chOff x="6071533" y="2197843"/>
            <a:chExt cx="683266" cy="367061"/>
          </a:xfrm>
        </p:grpSpPr>
        <p:sp>
          <p:nvSpPr>
            <p:cNvPr id="1025" name="TextBox 1024">
              <a:extLst>
                <a:ext uri="{FF2B5EF4-FFF2-40B4-BE49-F238E27FC236}">
                  <a16:creationId xmlns:a16="http://schemas.microsoft.com/office/drawing/2014/main" id="{F232106F-BB02-AEDC-69E9-2BDE01BDE00D}"/>
                </a:ext>
              </a:extLst>
            </p:cNvPr>
            <p:cNvSpPr txBox="1"/>
            <p:nvPr/>
          </p:nvSpPr>
          <p:spPr>
            <a:xfrm>
              <a:off x="6105590" y="2222338"/>
              <a:ext cx="649209" cy="342566"/>
            </a:xfrm>
            <a:prstGeom prst="rect">
              <a:avLst/>
            </a:prstGeom>
            <a:noFill/>
          </p:spPr>
          <p:txBody>
            <a:bodyPr wrap="square">
              <a:spAutoFit/>
            </a:bodyPr>
            <a:lstStyle/>
            <a:p>
              <a:pPr algn="ctr"/>
              <a:r>
                <a:rPr lang="en-US" sz="800" b="1">
                  <a:latin typeface="Arial Hebrew Scholar" pitchFamily="2" charset="-79"/>
                  <a:cs typeface="Arial Hebrew Scholar" pitchFamily="2" charset="-79"/>
                </a:rPr>
                <a:t>Github Platform</a:t>
              </a:r>
              <a:endParaRPr lang="en-US" sz="800" b="1" dirty="0">
                <a:latin typeface="Arial Hebrew Scholar" pitchFamily="2" charset="-79"/>
                <a:cs typeface="Arial Hebrew Scholar" pitchFamily="2" charset="-79"/>
              </a:endParaRPr>
            </a:p>
          </p:txBody>
        </p:sp>
        <p:pic>
          <p:nvPicPr>
            <p:cNvPr id="1026" name="Picture 4" descr="Github Logo - Free social media icons">
              <a:extLst>
                <a:ext uri="{FF2B5EF4-FFF2-40B4-BE49-F238E27FC236}">
                  <a16:creationId xmlns:a16="http://schemas.microsoft.com/office/drawing/2014/main" id="{58468723-8BEE-E9A8-37F1-25D443A786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0800000" flipV="1">
              <a:off x="6071533" y="2197843"/>
              <a:ext cx="166522" cy="16652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35" name="Group 1034">
            <a:extLst>
              <a:ext uri="{FF2B5EF4-FFF2-40B4-BE49-F238E27FC236}">
                <a16:creationId xmlns:a16="http://schemas.microsoft.com/office/drawing/2014/main" id="{CA4AE13E-261B-CCD9-0CCB-E209746E8442}"/>
              </a:ext>
            </a:extLst>
          </p:cNvPr>
          <p:cNvGrpSpPr/>
          <p:nvPr/>
        </p:nvGrpSpPr>
        <p:grpSpPr>
          <a:xfrm>
            <a:off x="5679061" y="6914401"/>
            <a:ext cx="725093" cy="1027194"/>
            <a:chOff x="5729861" y="6934721"/>
            <a:chExt cx="725093" cy="1027194"/>
          </a:xfrm>
        </p:grpSpPr>
        <p:pic>
          <p:nvPicPr>
            <p:cNvPr id="1029" name="Picture 1028">
              <a:extLst>
                <a:ext uri="{FF2B5EF4-FFF2-40B4-BE49-F238E27FC236}">
                  <a16:creationId xmlns:a16="http://schemas.microsoft.com/office/drawing/2014/main" id="{9A6FA28E-24A2-971C-1329-B9C39D8020D1}"/>
                </a:ext>
              </a:extLst>
            </p:cNvPr>
            <p:cNvPicPr>
              <a:picLocks noChangeAspect="1"/>
            </p:cNvPicPr>
            <p:nvPr/>
          </p:nvPicPr>
          <p:blipFill>
            <a:blip r:embed="rId6"/>
            <a:stretch>
              <a:fillRect/>
            </a:stretch>
          </p:blipFill>
          <p:spPr>
            <a:xfrm>
              <a:off x="5729861" y="6934721"/>
              <a:ext cx="658860" cy="648000"/>
            </a:xfrm>
            <a:prstGeom prst="rect">
              <a:avLst/>
            </a:prstGeom>
          </p:spPr>
        </p:pic>
        <p:grpSp>
          <p:nvGrpSpPr>
            <p:cNvPr id="1031" name="Group 1030">
              <a:extLst>
                <a:ext uri="{FF2B5EF4-FFF2-40B4-BE49-F238E27FC236}">
                  <a16:creationId xmlns:a16="http://schemas.microsoft.com/office/drawing/2014/main" id="{CF614D1B-5E22-CCB8-7095-13F12F04FD96}"/>
                </a:ext>
              </a:extLst>
            </p:cNvPr>
            <p:cNvGrpSpPr/>
            <p:nvPr/>
          </p:nvGrpSpPr>
          <p:grpSpPr>
            <a:xfrm>
              <a:off x="5771688" y="7623361"/>
              <a:ext cx="683266" cy="338554"/>
              <a:chOff x="6071533" y="2191497"/>
              <a:chExt cx="683266" cy="342566"/>
            </a:xfrm>
          </p:grpSpPr>
          <p:sp>
            <p:nvSpPr>
              <p:cNvPr id="1032" name="TextBox 1031">
                <a:extLst>
                  <a:ext uri="{FF2B5EF4-FFF2-40B4-BE49-F238E27FC236}">
                    <a16:creationId xmlns:a16="http://schemas.microsoft.com/office/drawing/2014/main" id="{C3051B63-3463-6494-3CCA-F8F194D0A4B7}"/>
                  </a:ext>
                </a:extLst>
              </p:cNvPr>
              <p:cNvSpPr txBox="1"/>
              <p:nvPr/>
            </p:nvSpPr>
            <p:spPr>
              <a:xfrm>
                <a:off x="6105590" y="2191497"/>
                <a:ext cx="649209" cy="342566"/>
              </a:xfrm>
              <a:prstGeom prst="rect">
                <a:avLst/>
              </a:prstGeom>
              <a:noFill/>
            </p:spPr>
            <p:txBody>
              <a:bodyPr wrap="square">
                <a:spAutoFit/>
              </a:bodyPr>
              <a:lstStyle/>
              <a:p>
                <a:pPr algn="ctr"/>
                <a:r>
                  <a:rPr lang="en-US" sz="800" b="1">
                    <a:latin typeface="Arial Hebrew Scholar" pitchFamily="2" charset="-79"/>
                    <a:cs typeface="Arial Hebrew Scholar" pitchFamily="2" charset="-79"/>
                  </a:rPr>
                  <a:t>Github FIT-DNU</a:t>
                </a:r>
                <a:endParaRPr lang="en-US" sz="800" b="1" dirty="0">
                  <a:latin typeface="Arial Hebrew Scholar" pitchFamily="2" charset="-79"/>
                  <a:cs typeface="Arial Hebrew Scholar" pitchFamily="2" charset="-79"/>
                </a:endParaRPr>
              </a:p>
            </p:txBody>
          </p:sp>
          <p:pic>
            <p:nvPicPr>
              <p:cNvPr id="1033" name="Picture 4" descr="Github Logo - Free social media icons">
                <a:extLst>
                  <a:ext uri="{FF2B5EF4-FFF2-40B4-BE49-F238E27FC236}">
                    <a16:creationId xmlns:a16="http://schemas.microsoft.com/office/drawing/2014/main" id="{E7E7E365-5E2E-837C-A71B-F336329B51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0800000" flipV="1">
                <a:off x="6071533" y="2197843"/>
                <a:ext cx="166522" cy="166522"/>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3" name="Hình ảnh 2" descr="Ảnh có chứa mẫu, hình vuông, điểm ảnh, thiết kế&#10;&#10;Nội dung do AI tạo ra có thể không chính xác.">
            <a:extLst>
              <a:ext uri="{FF2B5EF4-FFF2-40B4-BE49-F238E27FC236}">
                <a16:creationId xmlns:a16="http://schemas.microsoft.com/office/drawing/2014/main" id="{92AA8123-F045-242D-EE24-A240AF19FBA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494970" y="6916409"/>
            <a:ext cx="646309" cy="646309"/>
          </a:xfrm>
          <a:prstGeom prst="rect">
            <a:avLst/>
          </a:prstGeom>
        </p:spPr>
      </p:pic>
      <p:pic>
        <p:nvPicPr>
          <p:cNvPr id="4" name="Picture 3">
            <a:extLst>
              <a:ext uri="{FF2B5EF4-FFF2-40B4-BE49-F238E27FC236}">
                <a16:creationId xmlns:a16="http://schemas.microsoft.com/office/drawing/2014/main" id="{E4FF9708-74A2-44F0-BB92-63916FAF90E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053781" y="1522289"/>
            <a:ext cx="583432" cy="583432"/>
          </a:xfrm>
          <a:prstGeom prst="rect">
            <a:avLst/>
          </a:prstGeom>
        </p:spPr>
      </p:pic>
      <p:pic>
        <p:nvPicPr>
          <p:cNvPr id="9" name="Picture 8">
            <a:extLst>
              <a:ext uri="{FF2B5EF4-FFF2-40B4-BE49-F238E27FC236}">
                <a16:creationId xmlns:a16="http://schemas.microsoft.com/office/drawing/2014/main" id="{41C1149B-EBCA-C010-EF96-FF0096D060DA}"/>
              </a:ext>
            </a:extLst>
          </p:cNvPr>
          <p:cNvPicPr>
            <a:picLocks noChangeAspect="1"/>
          </p:cNvPicPr>
          <p:nvPr/>
        </p:nvPicPr>
        <p:blipFill>
          <a:blip r:embed="rId9"/>
          <a:stretch>
            <a:fillRect/>
          </a:stretch>
        </p:blipFill>
        <p:spPr>
          <a:xfrm>
            <a:off x="183911" y="7970945"/>
            <a:ext cx="3698407" cy="1755371"/>
          </a:xfrm>
          <a:prstGeom prst="rect">
            <a:avLst/>
          </a:prstGeom>
        </p:spPr>
      </p:pic>
      <p:pic>
        <p:nvPicPr>
          <p:cNvPr id="11" name="Picture 10">
            <a:extLst>
              <a:ext uri="{FF2B5EF4-FFF2-40B4-BE49-F238E27FC236}">
                <a16:creationId xmlns:a16="http://schemas.microsoft.com/office/drawing/2014/main" id="{D7F06A24-9C63-3B2B-0EFD-F97B1860CA15}"/>
              </a:ext>
            </a:extLst>
          </p:cNvPr>
          <p:cNvPicPr>
            <a:picLocks noChangeAspect="1"/>
          </p:cNvPicPr>
          <p:nvPr/>
        </p:nvPicPr>
        <p:blipFill>
          <a:blip r:embed="rId10"/>
          <a:stretch>
            <a:fillRect/>
          </a:stretch>
        </p:blipFill>
        <p:spPr>
          <a:xfrm>
            <a:off x="183911" y="6008360"/>
            <a:ext cx="3691513" cy="1755370"/>
          </a:xfrm>
          <a:prstGeom prst="rect">
            <a:avLst/>
          </a:prstGeom>
        </p:spPr>
      </p:pic>
      <p:pic>
        <p:nvPicPr>
          <p:cNvPr id="15" name="Picture 14">
            <a:extLst>
              <a:ext uri="{FF2B5EF4-FFF2-40B4-BE49-F238E27FC236}">
                <a16:creationId xmlns:a16="http://schemas.microsoft.com/office/drawing/2014/main" id="{BD590A86-B1BC-61D9-A536-88DEE956D9CD}"/>
              </a:ext>
            </a:extLst>
          </p:cNvPr>
          <p:cNvPicPr>
            <a:picLocks noChangeAspect="1"/>
          </p:cNvPicPr>
          <p:nvPr/>
        </p:nvPicPr>
        <p:blipFill>
          <a:blip r:embed="rId11"/>
          <a:stretch>
            <a:fillRect/>
          </a:stretch>
        </p:blipFill>
        <p:spPr>
          <a:xfrm>
            <a:off x="141624" y="4146769"/>
            <a:ext cx="3698407" cy="1770941"/>
          </a:xfrm>
          <a:prstGeom prst="rect">
            <a:avLst/>
          </a:prstGeom>
        </p:spPr>
      </p:pic>
      <p:pic>
        <p:nvPicPr>
          <p:cNvPr id="17" name="Picture 16">
            <a:extLst>
              <a:ext uri="{FF2B5EF4-FFF2-40B4-BE49-F238E27FC236}">
                <a16:creationId xmlns:a16="http://schemas.microsoft.com/office/drawing/2014/main" id="{D9AB9C3E-0C9B-5FA1-6FE6-01B8FBB686D9}"/>
              </a:ext>
            </a:extLst>
          </p:cNvPr>
          <p:cNvPicPr>
            <a:picLocks noChangeAspect="1"/>
          </p:cNvPicPr>
          <p:nvPr/>
        </p:nvPicPr>
        <p:blipFill>
          <a:blip r:embed="rId12"/>
          <a:srcRect l="919" t="1353" r="1808" b="-1353"/>
          <a:stretch>
            <a:fillRect/>
          </a:stretch>
        </p:blipFill>
        <p:spPr>
          <a:xfrm>
            <a:off x="4093845" y="2740628"/>
            <a:ext cx="2713358" cy="1842770"/>
          </a:xfrm>
          <a:prstGeom prst="rect">
            <a:avLst/>
          </a:prstGeom>
        </p:spPr>
      </p:pic>
    </p:spTree>
    <p:extLst>
      <p:ext uri="{BB962C8B-B14F-4D97-AF65-F5344CB8AC3E}">
        <p14:creationId xmlns:p14="http://schemas.microsoft.com/office/powerpoint/2010/main" val="133586980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716</TotalTime>
  <Words>288</Words>
  <Application>Microsoft Office PowerPoint</Application>
  <PresentationFormat>A4 Paper (210x297 mm)</PresentationFormat>
  <Paragraphs>20</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Arial (Body)</vt:lpstr>
      <vt:lpstr>Arial Hebrew Scholar</vt:lpstr>
      <vt:lpstr>Calibri</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Thái Khánh Nguyễn</dc:creator>
  <cp:lastModifiedBy>Quốc Diệu Lương</cp:lastModifiedBy>
  <cp:revision>100</cp:revision>
  <dcterms:created xsi:type="dcterms:W3CDTF">2023-07-02T07:57:15Z</dcterms:created>
  <dcterms:modified xsi:type="dcterms:W3CDTF">2026-01-29T03:02:42Z</dcterms:modified>
</cp:coreProperties>
</file>